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37"/>
  </p:notesMasterIdLst>
  <p:sldIdLst>
    <p:sldId id="264" r:id="rId2"/>
    <p:sldId id="268" r:id="rId3"/>
    <p:sldId id="269" r:id="rId4"/>
    <p:sldId id="337" r:id="rId5"/>
    <p:sldId id="270" r:id="rId6"/>
    <p:sldId id="336" r:id="rId7"/>
    <p:sldId id="338" r:id="rId8"/>
    <p:sldId id="345" r:id="rId9"/>
    <p:sldId id="342" r:id="rId10"/>
    <p:sldId id="343" r:id="rId11"/>
    <p:sldId id="344" r:id="rId12"/>
    <p:sldId id="346" r:id="rId13"/>
    <p:sldId id="347" r:id="rId14"/>
    <p:sldId id="348" r:id="rId15"/>
    <p:sldId id="349" r:id="rId16"/>
    <p:sldId id="350" r:id="rId17"/>
    <p:sldId id="339" r:id="rId18"/>
    <p:sldId id="352" r:id="rId19"/>
    <p:sldId id="353" r:id="rId20"/>
    <p:sldId id="354" r:id="rId21"/>
    <p:sldId id="351" r:id="rId22"/>
    <p:sldId id="355" r:id="rId23"/>
    <p:sldId id="356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365" r:id="rId32"/>
    <p:sldId id="357" r:id="rId33"/>
    <p:sldId id="367" r:id="rId34"/>
    <p:sldId id="340" r:id="rId35"/>
    <p:sldId id="366" r:id="rId36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38"/>
      <p:bold r:id="rId39"/>
      <p:italic r:id="rId40"/>
      <p:boldItalic r:id="rId41"/>
    </p:embeddedFont>
    <p:embeddedFont>
      <p:font typeface="IBM Plex Sans SemiBold" panose="020B0703050203000203" pitchFamily="34" charset="0"/>
      <p:regular r:id="rId42"/>
      <p:bold r:id="rId43"/>
      <p:italic r:id="rId44"/>
      <p:boldItalic r:id="rId45"/>
    </p:embeddedFont>
    <p:embeddedFont>
      <p:font typeface="Roboto" panose="02000000000000000000" pitchFamily="2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A850C3-399C-4643-A6B8-11A07E3AB8E5}">
  <a:tblStyle styleId="{54A850C3-399C-4643-A6B8-11A07E3AB8E5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E71A815-87C8-4A5C-9F50-9F012538D32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8" d="100"/>
          <a:sy n="188" d="100"/>
        </p:scale>
        <p:origin x="120" y="3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282be6ded7_10_10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g2282be6ded7_10_1019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Выбери любой подходящий макет с названием “Титульный слайд”. </a:t>
            </a:r>
            <a:endParaRPr sz="900"/>
          </a:p>
        </p:txBody>
      </p:sp>
      <p:sp>
        <p:nvSpPr>
          <p:cNvPr id="368" name="Google Shape;368;g2282be6ded7_10_1019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1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82be6ded7_1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282be6ded7_10_104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93" name="Google Shape;393;g2282be6ded7_10_104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2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1d5e2eb929_0_8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1d5e2eb929_0_8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Стандартный слайд знакомства. Не меняем его, меняем текст в нем.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82be6ded7_1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282be6ded7_10_104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93" name="Google Shape;393;g2282be6ded7_10_104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4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99130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48849f02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48849f02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Посоветуйся с методистом как лучше провести знакомство с аудиторией. Вопросы могут меняться. </a:t>
            </a:r>
            <a:br>
              <a:rPr lang="ru"/>
            </a:br>
            <a:r>
              <a:rPr lang="ru">
                <a:solidFill>
                  <a:schemeClr val="dk1"/>
                </a:solidFill>
              </a:rPr>
              <a:t>Стандартный слайд знакомства. Не меняем его, меняем текст в нем и иллюстрации (если нужно)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48849f02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48849f02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Посоветуйся с методистом как лучше провести знакомство с аудиторией. Вопросы могут меняться. </a:t>
            </a:r>
            <a:br>
              <a:rPr lang="ru"/>
            </a:br>
            <a:r>
              <a:rPr lang="ru">
                <a:solidFill>
                  <a:schemeClr val="dk1"/>
                </a:solidFill>
              </a:rPr>
              <a:t>Стандартный слайд знакомства. Не меняем его, меняем текст в нем и иллюстрации (если нужно)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984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82be6ded7_1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282be6ded7_10_104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93" name="Google Shape;393;g2282be6ded7_10_104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7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3847428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82be6ded7_1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282be6ded7_10_104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93" name="Google Shape;393;g2282be6ded7_10_104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8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3126118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6380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948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589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82be6ded7_1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282be6ded7_10_104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93" name="Google Shape;393;g2282be6ded7_10_104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12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2377512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541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940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82be6ded7_1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282be6ded7_10_104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93" name="Google Shape;393;g2282be6ded7_10_104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15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9079492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2798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82be6ded7_1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282be6ded7_10_104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93" name="Google Shape;393;g2282be6ded7_10_104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17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2810051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82be6ded7_1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282be6ded7_10_104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93" name="Google Shape;393;g2282be6ded7_10_104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18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902905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3973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82be6ded7_1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282be6ded7_10_104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93" name="Google Shape;393;g2282be6ded7_10_104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20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31821644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70190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82be6ded7_1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282be6ded7_10_104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93" name="Google Shape;393;g2282be6ded7_10_104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22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697289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83609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9806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33429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1538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1451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4360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85560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13355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82be6ded7_1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282be6ded7_10_104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93" name="Google Shape;393;g2282be6ded7_10_104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31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591929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48781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4524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82be6ded7_1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282be6ded7_10_104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93" name="Google Shape;393;g2282be6ded7_10_104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900"/>
              <a:t>34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33571888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1dc93cbcf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1dc93cbcf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130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8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 1">
  <p:cSld name="1_Title slide 5_2_1_17_2">
    <p:bg>
      <p:bgPr>
        <a:solidFill>
          <a:srgbClr val="EFF0F5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5275" y="0"/>
            <a:ext cx="88487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3852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540000" y="3272200"/>
            <a:ext cx="3852000" cy="14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0" name="Google Shape;20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007" y="238125"/>
            <a:ext cx="1414463" cy="182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  <p15:guide id="18" pos="43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 2">
  <p:cSld name="1_Title slide 5_2_1_17_1">
    <p:bg>
      <p:bgPr>
        <a:solidFill>
          <a:srgbClr val="EFF0F5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83911" y="0"/>
            <a:ext cx="5560090" cy="454608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3852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 SemiBold"/>
              <a:buNone/>
              <a:defRPr sz="360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540000" y="3272200"/>
            <a:ext cx="3852000" cy="14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5" name="Google Shape;25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007" y="238125"/>
            <a:ext cx="1414463" cy="182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  <p15:guide id="18" pos="43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Карточка преподавателя">
  <p:cSld name="1_Title slide 5_2_1_2_1_1_1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805200" y="720000"/>
            <a:ext cx="47988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3805200" y="1122600"/>
            <a:ext cx="47988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None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2"/>
          </p:nvPr>
        </p:nvSpPr>
        <p:spPr>
          <a:xfrm>
            <a:off x="3805200" y="1598700"/>
            <a:ext cx="47988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805200" y="2275800"/>
            <a:ext cx="3996300" cy="22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41" name="Google Shape;4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1866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subTitle" idx="4"/>
          </p:nvPr>
        </p:nvSpPr>
        <p:spPr>
          <a:xfrm>
            <a:off x="540000" y="152400"/>
            <a:ext cx="5958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Заголовок + абзац">
  <p:cSld name="1_Title slide 5_2_1_4_1"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ubTitle" idx="1"/>
          </p:nvPr>
        </p:nvSpPr>
        <p:spPr>
          <a:xfrm>
            <a:off x="540000" y="1260000"/>
            <a:ext cx="80640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87" name="Google Shape;8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186600"/>
            <a:ext cx="291600" cy="2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Пустой слайд">
  <p:cSld name="1_Title slide 5_2_1_12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>
            <a:spLocks noGrp="1"/>
          </p:cNvSpPr>
          <p:nvPr>
            <p:ph type="subTitle" idx="1"/>
          </p:nvPr>
        </p:nvSpPr>
        <p:spPr>
          <a:xfrm>
            <a:off x="540000" y="152400"/>
            <a:ext cx="5958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96" name="Google Shape;96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186600"/>
            <a:ext cx="291600" cy="2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Заголовок в одну строку">
  <p:cSld name="1_Title slide 5_2_1_2_1_2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>
            <a:spLocks noGrp="1"/>
          </p:cNvSpPr>
          <p:nvPr>
            <p:ph type="subTitle" idx="1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385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206" name="Google Shape;206;p27"/>
          <p:cNvSpPr txBox="1">
            <a:spLocks noGrp="1"/>
          </p:cNvSpPr>
          <p:nvPr>
            <p:ph type="subTitle" idx="2"/>
          </p:nvPr>
        </p:nvSpPr>
        <p:spPr>
          <a:xfrm>
            <a:off x="540000" y="11844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7" name="Google Shape;207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04000" y="186600"/>
            <a:ext cx="291600" cy="2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римеры элементов">
  <p:cSld name="1_Title slide 5_2_1_12_2_1"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04000" y="186600"/>
            <a:ext cx="291600" cy="2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5134" y="2736633"/>
            <a:ext cx="1577348" cy="154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8706" y="289424"/>
            <a:ext cx="753565" cy="673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8165" y="1379649"/>
            <a:ext cx="1154016" cy="1154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43716" y="579376"/>
            <a:ext cx="1457918" cy="1457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24645" y="1206057"/>
            <a:ext cx="982004" cy="9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61252" y="1756587"/>
            <a:ext cx="1056968" cy="127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32565" y="2353894"/>
            <a:ext cx="800272" cy="103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21839" y="2353894"/>
            <a:ext cx="666893" cy="77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80340" y="2035241"/>
            <a:ext cx="1138982" cy="1142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9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89275" y="799742"/>
            <a:ext cx="788674" cy="78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9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32699" y="2226316"/>
            <a:ext cx="684290" cy="678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9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28647" y="1360257"/>
            <a:ext cx="521964" cy="521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9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130388" y="929334"/>
            <a:ext cx="374993" cy="374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383816" y="654766"/>
            <a:ext cx="1249882" cy="1249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9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254532" y="1359599"/>
            <a:ext cx="859114" cy="694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9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130387" y="1402202"/>
            <a:ext cx="1113147" cy="109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9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441354" y="1455590"/>
            <a:ext cx="845973" cy="845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477415" y="3591143"/>
            <a:ext cx="796811" cy="796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9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6111056" y="3641287"/>
            <a:ext cx="835066" cy="840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9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812955" y="1060699"/>
            <a:ext cx="740809" cy="97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9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2382253" y="2812019"/>
            <a:ext cx="620501" cy="6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9" descr="preencoded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67518" y="1089694"/>
            <a:ext cx="359542" cy="36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9" descr="preencoded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4504715" y="2406085"/>
            <a:ext cx="840866" cy="898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9" descr="preencoded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499595" y="3067180"/>
            <a:ext cx="452328" cy="45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 descr="preencoded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2781403" y="1884167"/>
            <a:ext cx="440729" cy="78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9" descr="preencoded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352425" y="2156892"/>
            <a:ext cx="2420376" cy="2303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9" descr="preencoded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2555237" y="3159963"/>
            <a:ext cx="2161378" cy="1983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9" descr="preencoded.png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4700894" y="3496312"/>
            <a:ext cx="2029470" cy="1647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9" descr="preencoded.png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4579113" y="0"/>
            <a:ext cx="1594744" cy="1455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9" descr="preencoded.png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3686055" y="1437640"/>
            <a:ext cx="834762" cy="1081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9" descr="preencoded.png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476250" y="676275"/>
            <a:ext cx="2676525" cy="2014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20">
          <p15:clr>
            <a:srgbClr val="FA7B17"/>
          </p15:clr>
        </p15:guide>
        <p15:guide id="2" orient="horz" pos="2948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454">
          <p15:clr>
            <a:srgbClr val="FA7B17"/>
          </p15:clr>
        </p15:guide>
        <p15:guide id="5" pos="2767">
          <p15:clr>
            <a:srgbClr val="FA7B17"/>
          </p15:clr>
        </p15:guide>
        <p15:guide id="6" pos="1667">
          <p15:clr>
            <a:srgbClr val="FA7B17"/>
          </p15:clr>
        </p15:guide>
        <p15:guide id="7" pos="2993">
          <p15:clr>
            <a:srgbClr val="FA7B17"/>
          </p15:clr>
        </p15:guide>
        <p15:guide id="8" pos="4093">
          <p15:clr>
            <a:srgbClr val="FA7B17"/>
          </p15:clr>
        </p15:guide>
        <p15:guide id="9" pos="4320">
          <p15:clr>
            <a:srgbClr val="FA7B17"/>
          </p15:clr>
        </p15:guide>
        <p15:guide id="10" pos="1440">
          <p15:clr>
            <a:srgbClr val="FA7B17"/>
          </p15:clr>
        </p15:guide>
        <p15:guide id="11" orient="horz" pos="1134">
          <p15:clr>
            <a:srgbClr val="FA7B17"/>
          </p15:clr>
        </p15:guide>
        <p15:guide id="12" orient="horz" pos="907">
          <p15:clr>
            <a:srgbClr val="FA7B17"/>
          </p15:clr>
        </p15:guide>
        <p15:guide id="13" orient="horz" pos="1587">
          <p15:clr>
            <a:srgbClr val="FA7B17"/>
          </p15:clr>
        </p15:guide>
        <p15:guide id="14" orient="horz" pos="1814">
          <p15:clr>
            <a:srgbClr val="FA7B17"/>
          </p15:clr>
        </p15:guide>
        <p15:guide id="15" orient="horz" pos="2268">
          <p15:clr>
            <a:srgbClr val="FA7B17"/>
          </p15:clr>
        </p15:guide>
        <p15:guide id="16" orient="horz" pos="2494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План курса 1">
  <p:cSld name="1_Title slide 5_2_1_4_1_1_1_1_1"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5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BM Plex Sans SemiBold"/>
              <a:buNone/>
              <a:defRPr sz="1800" b="0" i="0" u="none" strike="noStrike" cap="none">
                <a:solidFill>
                  <a:srgbClr val="000000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"/>
              <a:buNone/>
              <a:defRPr sz="240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"/>
              <a:buNone/>
              <a:defRPr sz="240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"/>
              <a:buNone/>
              <a:defRPr sz="240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"/>
              <a:buNone/>
              <a:defRPr sz="240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"/>
              <a:buNone/>
              <a:defRPr sz="240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"/>
              <a:buNone/>
              <a:defRPr sz="240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"/>
              <a:buNone/>
              <a:defRPr sz="240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"/>
              <a:buNone/>
              <a:defRPr sz="240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4" name="Google Shape;244;p30"/>
          <p:cNvSpPr txBox="1">
            <a:spLocks noGrp="1"/>
          </p:cNvSpPr>
          <p:nvPr>
            <p:ph type="subTitle" idx="1"/>
          </p:nvPr>
        </p:nvSpPr>
        <p:spPr>
          <a:xfrm>
            <a:off x="1008000" y="14400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5" name="Google Shape;245;p30"/>
          <p:cNvSpPr txBox="1">
            <a:spLocks noGrp="1"/>
          </p:cNvSpPr>
          <p:nvPr>
            <p:ph type="subTitle" idx="2"/>
          </p:nvPr>
        </p:nvSpPr>
        <p:spPr>
          <a:xfrm>
            <a:off x="1008000" y="2145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6" name="Google Shape;246;p30"/>
          <p:cNvSpPr txBox="1">
            <a:spLocks noGrp="1"/>
          </p:cNvSpPr>
          <p:nvPr>
            <p:ph type="subTitle" idx="3"/>
          </p:nvPr>
        </p:nvSpPr>
        <p:spPr>
          <a:xfrm>
            <a:off x="1008000" y="2858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7" name="Google Shape;247;p30"/>
          <p:cNvSpPr txBox="1">
            <a:spLocks noGrp="1"/>
          </p:cNvSpPr>
          <p:nvPr>
            <p:ph type="subTitle" idx="4"/>
          </p:nvPr>
        </p:nvSpPr>
        <p:spPr>
          <a:xfrm>
            <a:off x="1008000" y="3567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8" name="Google Shape;248;p30"/>
          <p:cNvSpPr txBox="1">
            <a:spLocks noGrp="1"/>
          </p:cNvSpPr>
          <p:nvPr>
            <p:ph type="subTitle" idx="5"/>
          </p:nvPr>
        </p:nvSpPr>
        <p:spPr>
          <a:xfrm>
            <a:off x="1008000" y="4280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subTitle" idx="6"/>
          </p:nvPr>
        </p:nvSpPr>
        <p:spPr>
          <a:xfrm>
            <a:off x="3114000" y="14400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0" name="Google Shape;250;p30"/>
          <p:cNvSpPr txBox="1">
            <a:spLocks noGrp="1"/>
          </p:cNvSpPr>
          <p:nvPr>
            <p:ph type="subTitle" idx="7"/>
          </p:nvPr>
        </p:nvSpPr>
        <p:spPr>
          <a:xfrm>
            <a:off x="3114000" y="2145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1" name="Google Shape;251;p30"/>
          <p:cNvSpPr txBox="1">
            <a:spLocks noGrp="1"/>
          </p:cNvSpPr>
          <p:nvPr>
            <p:ph type="subTitle" idx="8"/>
          </p:nvPr>
        </p:nvSpPr>
        <p:spPr>
          <a:xfrm>
            <a:off x="3114000" y="2858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2" name="Google Shape;252;p30"/>
          <p:cNvSpPr txBox="1">
            <a:spLocks noGrp="1"/>
          </p:cNvSpPr>
          <p:nvPr>
            <p:ph type="subTitle" idx="9"/>
          </p:nvPr>
        </p:nvSpPr>
        <p:spPr>
          <a:xfrm>
            <a:off x="3114000" y="3567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3" name="Google Shape;253;p30"/>
          <p:cNvSpPr txBox="1">
            <a:spLocks noGrp="1"/>
          </p:cNvSpPr>
          <p:nvPr>
            <p:ph type="subTitle" idx="13"/>
          </p:nvPr>
        </p:nvSpPr>
        <p:spPr>
          <a:xfrm>
            <a:off x="3114000" y="4280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4" name="Google Shape;254;p30"/>
          <p:cNvSpPr txBox="1">
            <a:spLocks noGrp="1"/>
          </p:cNvSpPr>
          <p:nvPr>
            <p:ph type="subTitle" idx="14"/>
          </p:nvPr>
        </p:nvSpPr>
        <p:spPr>
          <a:xfrm>
            <a:off x="5220000" y="14400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5" name="Google Shape;255;p30"/>
          <p:cNvSpPr txBox="1">
            <a:spLocks noGrp="1"/>
          </p:cNvSpPr>
          <p:nvPr>
            <p:ph type="subTitle" idx="15"/>
          </p:nvPr>
        </p:nvSpPr>
        <p:spPr>
          <a:xfrm>
            <a:off x="5220000" y="2145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6" name="Google Shape;256;p30"/>
          <p:cNvSpPr txBox="1">
            <a:spLocks noGrp="1"/>
          </p:cNvSpPr>
          <p:nvPr>
            <p:ph type="subTitle" idx="16"/>
          </p:nvPr>
        </p:nvSpPr>
        <p:spPr>
          <a:xfrm>
            <a:off x="5220000" y="2858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7" name="Google Shape;257;p30"/>
          <p:cNvSpPr txBox="1">
            <a:spLocks noGrp="1"/>
          </p:cNvSpPr>
          <p:nvPr>
            <p:ph type="subTitle" idx="17"/>
          </p:nvPr>
        </p:nvSpPr>
        <p:spPr>
          <a:xfrm>
            <a:off x="5220000" y="3567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8" name="Google Shape;258;p30"/>
          <p:cNvSpPr txBox="1">
            <a:spLocks noGrp="1"/>
          </p:cNvSpPr>
          <p:nvPr>
            <p:ph type="subTitle" idx="18"/>
          </p:nvPr>
        </p:nvSpPr>
        <p:spPr>
          <a:xfrm>
            <a:off x="5220000" y="4280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9" name="Google Shape;259;p30"/>
          <p:cNvSpPr txBox="1">
            <a:spLocks noGrp="1"/>
          </p:cNvSpPr>
          <p:nvPr>
            <p:ph type="subTitle" idx="19"/>
          </p:nvPr>
        </p:nvSpPr>
        <p:spPr>
          <a:xfrm>
            <a:off x="7326000" y="14400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60" name="Google Shape;260;p30"/>
          <p:cNvSpPr txBox="1">
            <a:spLocks noGrp="1"/>
          </p:cNvSpPr>
          <p:nvPr>
            <p:ph type="subTitle" idx="20"/>
          </p:nvPr>
        </p:nvSpPr>
        <p:spPr>
          <a:xfrm>
            <a:off x="7326000" y="2145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61" name="Google Shape;261;p30"/>
          <p:cNvSpPr txBox="1">
            <a:spLocks noGrp="1"/>
          </p:cNvSpPr>
          <p:nvPr>
            <p:ph type="subTitle" idx="21"/>
          </p:nvPr>
        </p:nvSpPr>
        <p:spPr>
          <a:xfrm>
            <a:off x="7326000" y="2858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62" name="Google Shape;262;p30"/>
          <p:cNvSpPr txBox="1">
            <a:spLocks noGrp="1"/>
          </p:cNvSpPr>
          <p:nvPr>
            <p:ph type="subTitle" idx="22"/>
          </p:nvPr>
        </p:nvSpPr>
        <p:spPr>
          <a:xfrm>
            <a:off x="7326000" y="3567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63" name="Google Shape;263;p30"/>
          <p:cNvSpPr txBox="1">
            <a:spLocks noGrp="1"/>
          </p:cNvSpPr>
          <p:nvPr>
            <p:ph type="subTitle" idx="23"/>
          </p:nvPr>
        </p:nvSpPr>
        <p:spPr>
          <a:xfrm>
            <a:off x="7326000" y="4280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64" name="Google Shape;264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04000" y="1866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0"/>
          <p:cNvSpPr txBox="1">
            <a:spLocks noGrp="1"/>
          </p:cNvSpPr>
          <p:nvPr>
            <p:ph type="subTitle" idx="24"/>
          </p:nvPr>
        </p:nvSpPr>
        <p:spPr>
          <a:xfrm>
            <a:off x="540000" y="152400"/>
            <a:ext cx="5958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План курса 1 1">
  <p:cSld name="1_Title slide 5_2_1_4_1_1_1_1_1_1_1">
    <p:bg>
      <p:bgPr>
        <a:solidFill>
          <a:schemeClr val="lt1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5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BM Plex Sans SemiBold"/>
              <a:buNone/>
              <a:defRPr sz="1800" b="0" i="0" u="none" strike="noStrike" cap="none">
                <a:solidFill>
                  <a:srgbClr val="000000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 sz="2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 sz="2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 sz="2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 sz="2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 sz="2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 sz="2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 sz="2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 sz="2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8" name="Google Shape;268;p31"/>
          <p:cNvSpPr txBox="1">
            <a:spLocks noGrp="1"/>
          </p:cNvSpPr>
          <p:nvPr>
            <p:ph type="subTitle" idx="1"/>
          </p:nvPr>
        </p:nvSpPr>
        <p:spPr>
          <a:xfrm>
            <a:off x="540000" y="18000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subTitle" idx="2"/>
          </p:nvPr>
        </p:nvSpPr>
        <p:spPr>
          <a:xfrm>
            <a:off x="540000" y="28764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subTitle" idx="3"/>
          </p:nvPr>
        </p:nvSpPr>
        <p:spPr>
          <a:xfrm>
            <a:off x="540000" y="39528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71" name="Google Shape;271;p31"/>
          <p:cNvSpPr txBox="1">
            <a:spLocks noGrp="1"/>
          </p:cNvSpPr>
          <p:nvPr>
            <p:ph type="subTitle" idx="4"/>
          </p:nvPr>
        </p:nvSpPr>
        <p:spPr>
          <a:xfrm>
            <a:off x="2646000" y="18000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72" name="Google Shape;272;p31"/>
          <p:cNvSpPr txBox="1">
            <a:spLocks noGrp="1"/>
          </p:cNvSpPr>
          <p:nvPr>
            <p:ph type="subTitle" idx="5"/>
          </p:nvPr>
        </p:nvSpPr>
        <p:spPr>
          <a:xfrm>
            <a:off x="2646000" y="28764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73" name="Google Shape;273;p31"/>
          <p:cNvSpPr txBox="1">
            <a:spLocks noGrp="1"/>
          </p:cNvSpPr>
          <p:nvPr>
            <p:ph type="subTitle" idx="6"/>
          </p:nvPr>
        </p:nvSpPr>
        <p:spPr>
          <a:xfrm>
            <a:off x="2646000" y="39528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74" name="Google Shape;274;p31"/>
          <p:cNvSpPr txBox="1">
            <a:spLocks noGrp="1"/>
          </p:cNvSpPr>
          <p:nvPr>
            <p:ph type="subTitle" idx="7"/>
          </p:nvPr>
        </p:nvSpPr>
        <p:spPr>
          <a:xfrm>
            <a:off x="4752000" y="18000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75" name="Google Shape;275;p31"/>
          <p:cNvSpPr txBox="1">
            <a:spLocks noGrp="1"/>
          </p:cNvSpPr>
          <p:nvPr>
            <p:ph type="subTitle" idx="8"/>
          </p:nvPr>
        </p:nvSpPr>
        <p:spPr>
          <a:xfrm>
            <a:off x="4752000" y="28764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76" name="Google Shape;276;p31"/>
          <p:cNvSpPr txBox="1">
            <a:spLocks noGrp="1"/>
          </p:cNvSpPr>
          <p:nvPr>
            <p:ph type="subTitle" idx="9"/>
          </p:nvPr>
        </p:nvSpPr>
        <p:spPr>
          <a:xfrm>
            <a:off x="4752000" y="39528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77" name="Google Shape;277;p31"/>
          <p:cNvSpPr txBox="1">
            <a:spLocks noGrp="1"/>
          </p:cNvSpPr>
          <p:nvPr>
            <p:ph type="subTitle" idx="13"/>
          </p:nvPr>
        </p:nvSpPr>
        <p:spPr>
          <a:xfrm>
            <a:off x="6858000" y="18000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78" name="Google Shape;278;p31"/>
          <p:cNvSpPr txBox="1">
            <a:spLocks noGrp="1"/>
          </p:cNvSpPr>
          <p:nvPr>
            <p:ph type="subTitle" idx="14"/>
          </p:nvPr>
        </p:nvSpPr>
        <p:spPr>
          <a:xfrm>
            <a:off x="6858000" y="28764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79" name="Google Shape;279;p31"/>
          <p:cNvSpPr txBox="1">
            <a:spLocks noGrp="1"/>
          </p:cNvSpPr>
          <p:nvPr>
            <p:ph type="subTitle" idx="15"/>
          </p:nvPr>
        </p:nvSpPr>
        <p:spPr>
          <a:xfrm>
            <a:off x="6858000" y="39528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80" name="Google Shape;280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04000" y="1866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1"/>
          <p:cNvSpPr txBox="1">
            <a:spLocks noGrp="1"/>
          </p:cNvSpPr>
          <p:nvPr>
            <p:ph type="subTitle" idx="16"/>
          </p:nvPr>
        </p:nvSpPr>
        <p:spPr>
          <a:xfrm>
            <a:off x="540000" y="152400"/>
            <a:ext cx="5958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 b="0" i="0" u="none" strike="noStrike" cap="non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6" r:id="rId4"/>
    <p:sldLayoutId id="2147483658" r:id="rId5"/>
    <p:sldLayoutId id="2147483673" r:id="rId6"/>
    <p:sldLayoutId id="2147483674" r:id="rId7"/>
    <p:sldLayoutId id="2147483675" r:id="rId8"/>
    <p:sldLayoutId id="2147483676" r:id="rId9"/>
    <p:sldLayoutId id="214748367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F5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0F062E-ED38-4009-9F8C-C1C667CEC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427" y="0"/>
            <a:ext cx="2436334" cy="273884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131C734-72F6-4DE0-B36B-D7738D6DA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498" y="2365093"/>
            <a:ext cx="1834193" cy="2759861"/>
          </a:xfrm>
          <a:prstGeom prst="rect">
            <a:avLst/>
          </a:prstGeom>
        </p:spPr>
      </p:pic>
      <p:sp>
        <p:nvSpPr>
          <p:cNvPr id="31" name="Google Shape;370;p41">
            <a:extLst>
              <a:ext uri="{FF2B5EF4-FFF2-40B4-BE49-F238E27FC236}">
                <a16:creationId xmlns:a16="http://schemas.microsoft.com/office/drawing/2014/main" id="{1757F65A-3A58-4221-9CF6-E248A9D32B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707" y="902105"/>
            <a:ext cx="5336040" cy="2925976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IBM Plex Sans" panose="020B0503050203000203" pitchFamily="34" charset="0"/>
              </a:rPr>
              <a:t>Веб-приложение </a:t>
            </a:r>
            <a:br>
              <a:rPr lang="ru-RU" b="1" dirty="0">
                <a:latin typeface="IBM Plex Sans" panose="020B0503050203000203" pitchFamily="34" charset="0"/>
              </a:rPr>
            </a:br>
            <a:r>
              <a:rPr lang="ru-RU" b="1" dirty="0">
                <a:latin typeface="IBM Plex Sans" panose="020B0503050203000203" pitchFamily="34" charset="0"/>
              </a:rPr>
              <a:t>«Список покупок»</a:t>
            </a:r>
            <a:br>
              <a:rPr lang="ru-RU" b="1" dirty="0">
                <a:latin typeface="IBM Plex Sans" panose="020B0503050203000203" pitchFamily="34" charset="0"/>
              </a:rPr>
            </a:br>
            <a:r>
              <a:rPr lang="ru-RU" b="1" dirty="0">
                <a:latin typeface="IBM Plex Sans" panose="020B0503050203000203" pitchFamily="34" charset="0"/>
              </a:rPr>
              <a:t>с использованием </a:t>
            </a:r>
            <a:br>
              <a:rPr lang="en-US" b="1" dirty="0">
                <a:latin typeface="IBM Plex Sans" panose="020B0503050203000203" pitchFamily="34" charset="0"/>
              </a:rPr>
            </a:br>
            <a:r>
              <a:rPr lang="en-US" b="1" dirty="0">
                <a:latin typeface="IBM Plex Sans" panose="020B0503050203000203" pitchFamily="34" charset="0"/>
              </a:rPr>
              <a:t>Java</a:t>
            </a:r>
            <a:r>
              <a:rPr lang="ru-RU" b="1" dirty="0">
                <a:latin typeface="IBM Plex Sans" panose="020B0503050203000203" pitchFamily="34" charset="0"/>
              </a:rPr>
              <a:t> </a:t>
            </a:r>
            <a:r>
              <a:rPr lang="en-US" b="1" dirty="0">
                <a:latin typeface="IBM Plex Sans" panose="020B0503050203000203" pitchFamily="34" charset="0"/>
              </a:rPr>
              <a:t>Spring Framework </a:t>
            </a:r>
            <a:r>
              <a:rPr lang="ru-RU" b="1" dirty="0">
                <a:latin typeface="IBM Plex Sans" panose="020B0503050203000203" pitchFamily="34" charset="0"/>
              </a:rPr>
              <a:t>и </a:t>
            </a:r>
            <a:r>
              <a:rPr lang="en-US" b="1" dirty="0">
                <a:latin typeface="IBM Plex Sans" panose="020B0503050203000203" pitchFamily="34" charset="0"/>
              </a:rPr>
              <a:t>React.js</a:t>
            </a:r>
            <a:endParaRPr b="1" dirty="0">
              <a:latin typeface="IBM Plex Sans" panose="020B050305020300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540000" y="1143300"/>
            <a:ext cx="8064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Знакомство</a:t>
            </a:r>
            <a:endParaRPr sz="36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6"/>
          <p:cNvSpPr txBox="1">
            <a:spLocks noGrp="1"/>
          </p:cNvSpPr>
          <p:nvPr>
            <p:ph type="subTitle" idx="4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12700" marR="118110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Давайте знакомиться!</a:t>
            </a:r>
            <a:endParaRPr/>
          </a:p>
        </p:txBody>
      </p:sp>
      <p:sp>
        <p:nvSpPr>
          <p:cNvPr id="402" name="Google Shape;402;p46"/>
          <p:cNvSpPr txBox="1">
            <a:spLocks noGrp="1"/>
          </p:cNvSpPr>
          <p:nvPr>
            <p:ph type="title"/>
          </p:nvPr>
        </p:nvSpPr>
        <p:spPr>
          <a:xfrm>
            <a:off x="3805200" y="720000"/>
            <a:ext cx="4798800" cy="235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1"/>
                </a:solidFill>
              </a:rPr>
              <a:t>Лакеев Денис</a:t>
            </a:r>
            <a:endParaRPr sz="1800" dirty="0"/>
          </a:p>
        </p:txBody>
      </p:sp>
      <p:sp>
        <p:nvSpPr>
          <p:cNvPr id="403" name="Google Shape;403;p46"/>
          <p:cNvSpPr txBox="1">
            <a:spLocks noGrp="1"/>
          </p:cNvSpPr>
          <p:nvPr>
            <p:ph type="subTitle" idx="1"/>
          </p:nvPr>
        </p:nvSpPr>
        <p:spPr>
          <a:xfrm>
            <a:off x="3805200" y="1029150"/>
            <a:ext cx="4798800" cy="21236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2"/>
                </a:solidFill>
              </a:rPr>
              <a:t>Главный инженер ООО РСХБ-Интех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404" name="Google Shape;404;p46"/>
          <p:cNvSpPr txBox="1">
            <a:spLocks noGrp="1"/>
          </p:cNvSpPr>
          <p:nvPr>
            <p:ph type="subTitle" idx="2"/>
          </p:nvPr>
        </p:nvSpPr>
        <p:spPr>
          <a:xfrm>
            <a:off x="3805200" y="1440000"/>
            <a:ext cx="4798800" cy="216777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</a:rPr>
              <a:t>Я увлеченный и внимательный к деталям программист по разработке банковского программного обеспечения с большим интересом к разработке программного обеспечения.</a:t>
            </a:r>
            <a:endParaRPr sz="12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💥"/>
            </a:pPr>
            <a:r>
              <a:rPr lang="ru" sz="1200" dirty="0">
                <a:solidFill>
                  <a:schemeClr val="dk1"/>
                </a:solidFill>
              </a:rPr>
              <a:t>Я изучаю </a:t>
            </a:r>
            <a:r>
              <a:rPr lang="en-US" sz="1200" dirty="0">
                <a:solidFill>
                  <a:schemeClr val="dk1"/>
                </a:solidFill>
              </a:rPr>
              <a:t>Java Spring </a:t>
            </a:r>
            <a:r>
              <a:rPr lang="ru-RU" sz="1200" dirty="0">
                <a:solidFill>
                  <a:schemeClr val="dk1"/>
                </a:solidFill>
              </a:rPr>
              <a:t>и пытаюсь улучшить свои знания, много работаю в команде</a:t>
            </a:r>
            <a:r>
              <a:rPr lang="ru" sz="1200" dirty="0">
                <a:solidFill>
                  <a:schemeClr val="dk1"/>
                </a:solidFill>
              </a:rPr>
              <a:t>;</a:t>
            </a:r>
            <a:endParaRPr sz="1200" dirty="0">
              <a:solidFill>
                <a:schemeClr val="dk1"/>
              </a:solidFill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💥"/>
            </a:pPr>
            <a:r>
              <a:rPr lang="ru" sz="1200" dirty="0">
                <a:solidFill>
                  <a:schemeClr val="dk1"/>
                </a:solidFill>
              </a:rPr>
              <a:t>Изучаю лучшие практики в рабочем процессе;</a:t>
            </a:r>
            <a:endParaRPr sz="1200" dirty="0">
              <a:solidFill>
                <a:schemeClr val="dk1"/>
              </a:solidFill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💥"/>
            </a:pPr>
            <a:r>
              <a:rPr lang="ru" sz="1200" dirty="0">
                <a:solidFill>
                  <a:schemeClr val="dk1"/>
                </a:solidFill>
              </a:rPr>
              <a:t>В свободное время я самосовершенствуюсь, хожу в спортзал, читаю книги;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E1740C-B956-46DB-91B8-047553FDF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30" y="620758"/>
            <a:ext cx="3021166" cy="39019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540000" y="1143300"/>
            <a:ext cx="8064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Задача и план работ</a:t>
            </a:r>
            <a:endParaRPr sz="36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125334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7"/>
          <p:cNvSpPr txBox="1">
            <a:spLocks noGrp="1"/>
          </p:cNvSpPr>
          <p:nvPr>
            <p:ph type="title"/>
          </p:nvPr>
        </p:nvSpPr>
        <p:spPr>
          <a:xfrm>
            <a:off x="548750" y="997023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sz="1800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Поставленная задача</a:t>
            </a:r>
            <a:endParaRPr sz="1800" dirty="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ECE5AC-FD43-4385-9E9A-834B2112A82D}"/>
              </a:ext>
            </a:extLst>
          </p:cNvPr>
          <p:cNvSpPr txBox="1"/>
          <p:nvPr/>
        </p:nvSpPr>
        <p:spPr>
          <a:xfrm>
            <a:off x="548750" y="1509472"/>
            <a:ext cx="8055350" cy="220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200" dirty="0">
                <a:effectLst/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rPr>
              <a:t>С давних времен все люди сталкивались с такой проблемой, когда мама, папа, бабушка, жена или кто-нибудь еще, отправляли нас в магазин и давали нам листок со списком товаров. Приходя в магазин, мы смотрели на этот список, в котором было написано: молоко, котлеты, стиральный порошок, консервы и т.д. Не понимая какой именно нужно порошок, какие нужны консервы, покупали первое, что попадется в глаза. После шли домой и выслушивали претензии в свой адрес, что мы купили не то.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dk1"/>
              </a:solidFill>
              <a:latin typeface="IBM Plex Sans" panose="020B0503050203000203" pitchFamily="34" charset="0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dk1"/>
              </a:solidFill>
              <a:latin typeface="IBM Plex Sans" panose="020B0503050203000203" pitchFamily="34" charset="0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IBM Plex Sans" panose="020B0503050203000203" pitchFamily="34" charset="0"/>
              </a:rPr>
              <a:t>	Целью дипломной работы является разработать веб-приложение «Список покупок», которое позволит составлять списки продуктов, с добавлением информации о продуктах, а так же делиться этими списками с другими пользователя.</a:t>
            </a:r>
          </a:p>
        </p:txBody>
      </p:sp>
      <p:pic>
        <p:nvPicPr>
          <p:cNvPr id="10" name="Google Shape;1309;p108" descr="preencoded.png">
            <a:extLst>
              <a:ext uri="{FF2B5EF4-FFF2-40B4-BE49-F238E27FC236}">
                <a16:creationId xmlns:a16="http://schemas.microsoft.com/office/drawing/2014/main" id="{1E6520B5-7501-46B2-A11A-6821F3D0E3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647" y="242041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299;p108" descr="preencoded.png">
            <a:extLst>
              <a:ext uri="{FF2B5EF4-FFF2-40B4-BE49-F238E27FC236}">
                <a16:creationId xmlns:a16="http://schemas.microsoft.com/office/drawing/2014/main" id="{5EE3DAB5-5ED9-4C3D-BA70-52A911E585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630" y="2754175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7"/>
          <p:cNvSpPr txBox="1">
            <a:spLocks noGrp="1"/>
          </p:cNvSpPr>
          <p:nvPr>
            <p:ph type="title"/>
          </p:nvPr>
        </p:nvSpPr>
        <p:spPr>
          <a:xfrm>
            <a:off x="548750" y="997023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sz="1800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Решение задачи / План работы</a:t>
            </a:r>
            <a:endParaRPr sz="1800" dirty="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ECE5AC-FD43-4385-9E9A-834B2112A82D}"/>
              </a:ext>
            </a:extLst>
          </p:cNvPr>
          <p:cNvSpPr txBox="1"/>
          <p:nvPr/>
        </p:nvSpPr>
        <p:spPr>
          <a:xfrm>
            <a:off x="548750" y="1509472"/>
            <a:ext cx="8055350" cy="1564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78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Задачами дипломной работы в связи с указанной целью являются:</a:t>
            </a:r>
            <a:endParaRPr lang="en-US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Изучить 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PostgreSQL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Изучить 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 Spring Framework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Изучить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микросервисную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архитектуру 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Cloud Netflix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Изучить 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Security 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Изучить 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React.js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Изучить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Docker</a:t>
            </a:r>
          </a:p>
        </p:txBody>
      </p:sp>
    </p:spTree>
    <p:extLst>
      <p:ext uri="{BB962C8B-B14F-4D97-AF65-F5344CB8AC3E}">
        <p14:creationId xmlns:p14="http://schemas.microsoft.com/office/powerpoint/2010/main" val="3119445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540000" y="1143300"/>
            <a:ext cx="8064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Теория</a:t>
            </a:r>
            <a:endParaRPr sz="36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1965795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540000" y="1143300"/>
            <a:ext cx="8064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Порядок проведения работ</a:t>
            </a:r>
            <a:endParaRPr sz="36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853954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Планирование проекта и настройка окружения разработки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7" name="Google Shape;537;p53">
            <a:extLst>
              <a:ext uri="{FF2B5EF4-FFF2-40B4-BE49-F238E27FC236}">
                <a16:creationId xmlns:a16="http://schemas.microsoft.com/office/drawing/2014/main" id="{7F8A967D-166F-4061-93E8-B909C769A7FE}"/>
              </a:ext>
            </a:extLst>
          </p:cNvPr>
          <p:cNvSpPr txBox="1"/>
          <p:nvPr/>
        </p:nvSpPr>
        <p:spPr>
          <a:xfrm>
            <a:off x="545973" y="1620000"/>
            <a:ext cx="3600000" cy="1691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Планирование проекта</a:t>
            </a:r>
            <a:endParaRPr lang="en-US" sz="1200" b="1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Определение функциональных и нефункциональных требований к приложению</a:t>
            </a:r>
            <a:endParaRPr lang="en-US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Проектирование архитектуры приложения и выбор используемых технологий.</a:t>
            </a:r>
          </a:p>
        </p:txBody>
      </p:sp>
      <p:sp>
        <p:nvSpPr>
          <p:cNvPr id="8" name="Google Shape;538;p53">
            <a:extLst>
              <a:ext uri="{FF2B5EF4-FFF2-40B4-BE49-F238E27FC236}">
                <a16:creationId xmlns:a16="http://schemas.microsoft.com/office/drawing/2014/main" id="{B3659E0D-9E44-4A56-9BE8-857505FF3CBE}"/>
              </a:ext>
            </a:extLst>
          </p:cNvPr>
          <p:cNvSpPr txBox="1"/>
          <p:nvPr/>
        </p:nvSpPr>
        <p:spPr>
          <a:xfrm>
            <a:off x="4571999" y="1620000"/>
            <a:ext cx="3600000" cy="2328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889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Настройка окружения разработки</a:t>
            </a:r>
            <a:endParaRPr lang="en-US" sz="1200" b="1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889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Установка и настройка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Postgres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SQL.</a:t>
            </a:r>
            <a:endParaRPr lang="en-US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Установка и настройка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JavaDevelopmentKit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(JDK),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IntelliJ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IDEA (для создания, сборки проекта и запуска приложения на основе Java Spring Framework).</a:t>
            </a:r>
            <a:endParaRPr lang="en-US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Установка Node.js для разработки клиентской части с использованием библиотеки React.js.</a:t>
            </a:r>
          </a:p>
        </p:txBody>
      </p:sp>
    </p:spTree>
    <p:extLst>
      <p:ext uri="{BB962C8B-B14F-4D97-AF65-F5344CB8AC3E}">
        <p14:creationId xmlns:p14="http://schemas.microsoft.com/office/powerpoint/2010/main" val="930536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Создание </a:t>
            </a:r>
            <a:r>
              <a:rPr lang="ru-RU" dirty="0">
                <a:solidFill>
                  <a:schemeClr val="dk1"/>
                </a:solidFill>
              </a:rPr>
              <a:t>базы данных, </a:t>
            </a: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серверной и клиентской частей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7" name="Google Shape;537;p53">
            <a:extLst>
              <a:ext uri="{FF2B5EF4-FFF2-40B4-BE49-F238E27FC236}">
                <a16:creationId xmlns:a16="http://schemas.microsoft.com/office/drawing/2014/main" id="{7F8A967D-166F-4061-93E8-B909C769A7FE}"/>
              </a:ext>
            </a:extLst>
          </p:cNvPr>
          <p:cNvSpPr txBox="1"/>
          <p:nvPr/>
        </p:nvSpPr>
        <p:spPr>
          <a:xfrm>
            <a:off x="545972" y="1620000"/>
            <a:ext cx="2160000" cy="1054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Создание базы данных</a:t>
            </a:r>
            <a:endParaRPr lang="en-US" sz="1200" b="1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Создание таблиц и связей</a:t>
            </a:r>
          </a:p>
        </p:txBody>
      </p:sp>
      <p:sp>
        <p:nvSpPr>
          <p:cNvPr id="6" name="Google Shape;537;p53">
            <a:extLst>
              <a:ext uri="{FF2B5EF4-FFF2-40B4-BE49-F238E27FC236}">
                <a16:creationId xmlns:a16="http://schemas.microsoft.com/office/drawing/2014/main" id="{8A1474FB-9D40-4154-A22F-F12F4D9C6E25}"/>
              </a:ext>
            </a:extLst>
          </p:cNvPr>
          <p:cNvSpPr txBox="1"/>
          <p:nvPr/>
        </p:nvSpPr>
        <p:spPr>
          <a:xfrm>
            <a:off x="3222000" y="1627947"/>
            <a:ext cx="2700000" cy="2965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Создание серверной части</a:t>
            </a:r>
            <a:endParaRPr lang="en-US" sz="1200" b="1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Создание проект с использованием </a:t>
            </a:r>
            <a:r>
              <a:rPr lang="en-US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SpringInitializr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Выбраны необходимые зависимости, такие как </a:t>
            </a:r>
            <a:r>
              <a:rPr lang="en-US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SpringWeb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SpringDataJPA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Lombok, </a:t>
            </a:r>
            <a:r>
              <a:rPr lang="en-US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SpringSecurity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Spring Cloud Netflix, JWT 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для поддержки функциональности приложения.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Разработка модели данных, репозитория, сервисов, контроллера.</a:t>
            </a:r>
          </a:p>
        </p:txBody>
      </p:sp>
      <p:sp>
        <p:nvSpPr>
          <p:cNvPr id="9" name="Google Shape;537;p53">
            <a:extLst>
              <a:ext uri="{FF2B5EF4-FFF2-40B4-BE49-F238E27FC236}">
                <a16:creationId xmlns:a16="http://schemas.microsoft.com/office/drawing/2014/main" id="{F3A56817-3DD2-4566-9446-50F86EAD6DA4}"/>
              </a:ext>
            </a:extLst>
          </p:cNvPr>
          <p:cNvSpPr txBox="1"/>
          <p:nvPr/>
        </p:nvSpPr>
        <p:spPr>
          <a:xfrm>
            <a:off x="6438028" y="1636098"/>
            <a:ext cx="2520000" cy="147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Создание клиентской части</a:t>
            </a:r>
            <a:endParaRPr lang="en-US" sz="1200" b="1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Создание WEB-интерфейса с помощью библиотеки React.js для отображения данных и взаимодействия с пользователем.</a:t>
            </a:r>
          </a:p>
        </p:txBody>
      </p:sp>
    </p:spTree>
    <p:extLst>
      <p:ext uri="{BB962C8B-B14F-4D97-AF65-F5344CB8AC3E}">
        <p14:creationId xmlns:p14="http://schemas.microsoft.com/office/powerpoint/2010/main" val="191000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Отладка, оптимизация и документирование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7" name="Google Shape;537;p53">
            <a:extLst>
              <a:ext uri="{FF2B5EF4-FFF2-40B4-BE49-F238E27FC236}">
                <a16:creationId xmlns:a16="http://schemas.microsoft.com/office/drawing/2014/main" id="{7F8A967D-166F-4061-93E8-B909C769A7FE}"/>
              </a:ext>
            </a:extLst>
          </p:cNvPr>
          <p:cNvSpPr txBox="1"/>
          <p:nvPr/>
        </p:nvSpPr>
        <p:spPr>
          <a:xfrm>
            <a:off x="545972" y="1620000"/>
            <a:ext cx="2160000" cy="147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Отладка</a:t>
            </a:r>
            <a:endParaRPr lang="en-US" sz="1200" b="1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Отладка кода для исправления ошибок и улучшения производительности.</a:t>
            </a:r>
          </a:p>
        </p:txBody>
      </p:sp>
      <p:sp>
        <p:nvSpPr>
          <p:cNvPr id="6" name="Google Shape;537;p53">
            <a:extLst>
              <a:ext uri="{FF2B5EF4-FFF2-40B4-BE49-F238E27FC236}">
                <a16:creationId xmlns:a16="http://schemas.microsoft.com/office/drawing/2014/main" id="{8A1474FB-9D40-4154-A22F-F12F4D9C6E25}"/>
              </a:ext>
            </a:extLst>
          </p:cNvPr>
          <p:cNvSpPr txBox="1"/>
          <p:nvPr/>
        </p:nvSpPr>
        <p:spPr>
          <a:xfrm>
            <a:off x="3222000" y="1627947"/>
            <a:ext cx="2700000" cy="1691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Оптимизация</a:t>
            </a:r>
            <a:endParaRPr lang="en-US" sz="1200" b="1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Оптимизация кода и конфигурации приложения для улучшения скорости работы и эффективности использования ресурсов.</a:t>
            </a:r>
          </a:p>
        </p:txBody>
      </p:sp>
      <p:sp>
        <p:nvSpPr>
          <p:cNvPr id="9" name="Google Shape;537;p53">
            <a:extLst>
              <a:ext uri="{FF2B5EF4-FFF2-40B4-BE49-F238E27FC236}">
                <a16:creationId xmlns:a16="http://schemas.microsoft.com/office/drawing/2014/main" id="{F3A56817-3DD2-4566-9446-50F86EAD6DA4}"/>
              </a:ext>
            </a:extLst>
          </p:cNvPr>
          <p:cNvSpPr txBox="1"/>
          <p:nvPr/>
        </p:nvSpPr>
        <p:spPr>
          <a:xfrm>
            <a:off x="6438028" y="1636098"/>
            <a:ext cx="2520000" cy="211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Документирование</a:t>
            </a:r>
            <a:endParaRPr lang="en-US" sz="1200" b="1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Создание документации по проекту, включая описание архитектуры, инструкции по установке и запуску, описание API (если применимо) и другие справочные материалы.</a:t>
            </a:r>
          </a:p>
        </p:txBody>
      </p:sp>
    </p:spTree>
    <p:extLst>
      <p:ext uri="{BB962C8B-B14F-4D97-AF65-F5344CB8AC3E}">
        <p14:creationId xmlns:p14="http://schemas.microsoft.com/office/powerpoint/2010/main" val="2340615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540000" y="1143300"/>
            <a:ext cx="8064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Определение требований к приложению</a:t>
            </a:r>
            <a:endParaRPr sz="36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102334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Функциональные требования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7" name="Google Shape;537;p53">
            <a:extLst>
              <a:ext uri="{FF2B5EF4-FFF2-40B4-BE49-F238E27FC236}">
                <a16:creationId xmlns:a16="http://schemas.microsoft.com/office/drawing/2014/main" id="{7F8A967D-166F-4061-93E8-B909C769A7FE}"/>
              </a:ext>
            </a:extLst>
          </p:cNvPr>
          <p:cNvSpPr txBox="1"/>
          <p:nvPr/>
        </p:nvSpPr>
        <p:spPr>
          <a:xfrm>
            <a:off x="545973" y="1620000"/>
            <a:ext cx="7040160" cy="1911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Пользователи должны иметь возможность создавать записи со своими списками покупок.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Приложение должно предоставлять возможность добавлять различные продукты в списки и редактировать эти продукты.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Приложение должно предоставлять возможность добавлять других пользователей в свои списки покупок, чтобы другие пользователи могли их видеть.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Пользователи должны иметь возможность просматривать и редактировать свои записи.</a:t>
            </a:r>
          </a:p>
        </p:txBody>
      </p:sp>
    </p:spTree>
    <p:extLst>
      <p:ext uri="{BB962C8B-B14F-4D97-AF65-F5344CB8AC3E}">
        <p14:creationId xmlns:p14="http://schemas.microsoft.com/office/powerpoint/2010/main" val="149628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Нефункциональные требования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7" name="Google Shape;537;p53">
            <a:extLst>
              <a:ext uri="{FF2B5EF4-FFF2-40B4-BE49-F238E27FC236}">
                <a16:creationId xmlns:a16="http://schemas.microsoft.com/office/drawing/2014/main" id="{7F8A967D-166F-4061-93E8-B909C769A7FE}"/>
              </a:ext>
            </a:extLst>
          </p:cNvPr>
          <p:cNvSpPr txBox="1"/>
          <p:nvPr/>
        </p:nvSpPr>
        <p:spPr>
          <a:xfrm>
            <a:off x="545973" y="1620000"/>
            <a:ext cx="7040160" cy="233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Удобство использования: Интерфейс должен быть интуитивно понятным и привлекательным для пользователя.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Безопасность: Данные пользователей должны храниться и передаваться в зашифрованном виде.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Производительность: Приложение должно обеспечивать быстрый доступ к данным и отзывчивый интерфейс.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Масштабируемость: Возможность расширения функциональности и увеличения числа пользователей без значительного ухудшения производительности.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109995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540000" y="1143300"/>
            <a:ext cx="8064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Выбор стека технологий</a:t>
            </a:r>
            <a:endParaRPr sz="36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953242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55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Язык программирования, фреймворк для разработки и среда разработки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7" name="Google Shape;537;p53">
            <a:extLst>
              <a:ext uri="{FF2B5EF4-FFF2-40B4-BE49-F238E27FC236}">
                <a16:creationId xmlns:a16="http://schemas.microsoft.com/office/drawing/2014/main" id="{7F8A967D-166F-4061-93E8-B909C769A7FE}"/>
              </a:ext>
            </a:extLst>
          </p:cNvPr>
          <p:cNvSpPr txBox="1"/>
          <p:nvPr/>
        </p:nvSpPr>
        <p:spPr>
          <a:xfrm>
            <a:off x="545973" y="1620000"/>
            <a:ext cx="7951174" cy="276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PostgreSQL 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для создания базы данных. Java для разработки серверной части приложения.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React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(иногда React.js или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ReactJS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) - JavaScript - библиотека с открытым исходным кодом для разработки пользовательских интерфейсов.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en-US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SpringBoot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 модулями 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Cloud Netflix 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и </a:t>
            </a:r>
            <a:r>
              <a:rPr lang="en-US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SpringSecurity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для быстрой и удобной разработки серверной части приложения. </a:t>
            </a:r>
            <a:r>
              <a:rPr lang="en-US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SpringSecurity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обеспечит безопасность приложения с использование 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JWT-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токена. 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 Cloud Netflix 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позволит создать архитектуру на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микросервисной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основе с использование 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Netflix Eureka Server 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для сервера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микросервисов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Netflix Eureka Client –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микросервисов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и </a:t>
            </a:r>
            <a:r>
              <a:rPr lang="en-US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Netflix Eureka Gateway – 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шлюза для обращение через один адрес и перенаправления запросов между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микросервисами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IntelliJ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IDEA для разработки серверной части приложения. Этот стек технологий обеспечивает разработку приложения «Список покупок» с учетом требований к функциональности, производительности и 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894864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540000" y="1143300"/>
            <a:ext cx="8064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Практика</a:t>
            </a:r>
            <a:endParaRPr sz="36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1026892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540000" y="1143300"/>
            <a:ext cx="8064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Проектирование базы данных</a:t>
            </a:r>
            <a:endParaRPr sz="36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1664342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Проектирование базы данных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90543B-A0E3-4D4E-947A-73E24C4D66E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457" y="1367578"/>
            <a:ext cx="3695700" cy="3295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1200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540000" y="1143300"/>
            <a:ext cx="8064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Проектирование серверной части</a:t>
            </a:r>
            <a:endParaRPr sz="36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666224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Проектирование серверной части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7" name="Google Shape;537;p53">
            <a:extLst>
              <a:ext uri="{FF2B5EF4-FFF2-40B4-BE49-F238E27FC236}">
                <a16:creationId xmlns:a16="http://schemas.microsoft.com/office/drawing/2014/main" id="{7F8A967D-166F-4061-93E8-B909C769A7FE}"/>
              </a:ext>
            </a:extLst>
          </p:cNvPr>
          <p:cNvSpPr txBox="1"/>
          <p:nvPr/>
        </p:nvSpPr>
        <p:spPr>
          <a:xfrm>
            <a:off x="545973" y="1620000"/>
            <a:ext cx="7951174" cy="1911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78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Определим общую структуру проекта. В ходе разработки серверной части понадобятся:</a:t>
            </a:r>
          </a:p>
          <a:p>
            <a:pPr marL="678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Сервер настроек для хранения основных настроек всех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микросервисов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Сервер для публикации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микросервисов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Микросервис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для работы с пользователями.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Микросервис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для работы с продуктами.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Микросервис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для работы со списками покупок.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Микросервис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для авторизации и регистрации пользователей.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Шлюз для перераспределения запросов между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микросервисами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6127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540000" y="1143300"/>
            <a:ext cx="8064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Проектирование клиентской части</a:t>
            </a:r>
            <a:endParaRPr sz="36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082329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Проектирование клиентской части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7" name="Google Shape;537;p53">
            <a:extLst>
              <a:ext uri="{FF2B5EF4-FFF2-40B4-BE49-F238E27FC236}">
                <a16:creationId xmlns:a16="http://schemas.microsoft.com/office/drawing/2014/main" id="{7F8A967D-166F-4061-93E8-B909C769A7FE}"/>
              </a:ext>
            </a:extLst>
          </p:cNvPr>
          <p:cNvSpPr txBox="1"/>
          <p:nvPr/>
        </p:nvSpPr>
        <p:spPr>
          <a:xfrm>
            <a:off x="545973" y="1620000"/>
            <a:ext cx="7951174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78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Для отображения всей информации необходимо:</a:t>
            </a:r>
          </a:p>
          <a:p>
            <a:pPr marL="678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Навигационная панель и нижний колонтитул.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Первоначальная страница.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Страницы регистрации и авторизации.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Страница отображения списков покупок.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Страница редактирования одного списка, где будет предоставлена возможность добавления продуктов и пользователей.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Страница редактирования продукта.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Страница редактирования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3341508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Первоначальная страница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6DB568-EB34-451E-BF4C-E1C0A796519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12252" y="1210077"/>
            <a:ext cx="6119495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65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Страница регистрации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166C5F-0145-4397-9DF5-35B4113603F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12252" y="1210077"/>
            <a:ext cx="6119495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46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Страница авторизации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6539CD-5979-431C-950B-D990DF16521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10982" y="1210077"/>
            <a:ext cx="6122035" cy="332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737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Страница отображения списков покупок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E8CB5A-EDD2-4266-899A-05201692F25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12252" y="1210077"/>
            <a:ext cx="6119495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99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Страница редактирования одного списка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D49A65-8585-4DEA-81BD-A413A7892B6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12252" y="1210077"/>
            <a:ext cx="6119495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354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Страница редактирования продукта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D7670B-1752-4DE2-87CD-1AC949B80C4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12252" y="1210077"/>
            <a:ext cx="6119495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62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Страница редактирования пользователя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73E6E2-CF0F-4F99-94A2-00B469B4F75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12252" y="1210077"/>
            <a:ext cx="6119495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58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540000" y="1143300"/>
            <a:ext cx="8064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Разворачивание </a:t>
            </a:r>
            <a:r>
              <a:rPr lang="en-US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Docker-</a:t>
            </a:r>
            <a:r>
              <a:rPr lang="ru-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контейнера</a:t>
            </a:r>
            <a:endParaRPr sz="36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1248786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Основные принципы разворачивания </a:t>
            </a:r>
            <a:r>
              <a:rPr lang="en-US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Docker-</a:t>
            </a: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контейнера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7" name="Google Shape;537;p53">
            <a:extLst>
              <a:ext uri="{FF2B5EF4-FFF2-40B4-BE49-F238E27FC236}">
                <a16:creationId xmlns:a16="http://schemas.microsoft.com/office/drawing/2014/main" id="{7F8A967D-166F-4061-93E8-B909C769A7FE}"/>
              </a:ext>
            </a:extLst>
          </p:cNvPr>
          <p:cNvSpPr txBox="1"/>
          <p:nvPr/>
        </p:nvSpPr>
        <p:spPr>
          <a:xfrm>
            <a:off x="545973" y="1620000"/>
            <a:ext cx="7951174" cy="1911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Установка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: Сначала необходимо установить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на целевом хосте. Для этого можно воспользоваться официальным сайтом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где доступны инструкции по установке для различных операционных систем.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Создание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-образа: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-образ представляет собой шаблон, на основе которого создается контейнер. Образ содержит все необходимые зависимости и конфигурации приложения. Образ можно создать с помощью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Dockerfile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который описывает шаги по сборке образа.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Создание контейнера: После создания образа необходимо создать контейнер на его основе. </a:t>
            </a:r>
          </a:p>
        </p:txBody>
      </p:sp>
    </p:spTree>
    <p:extLst>
      <p:ext uri="{BB962C8B-B14F-4D97-AF65-F5344CB8AC3E}">
        <p14:creationId xmlns:p14="http://schemas.microsoft.com/office/powerpoint/2010/main" val="41363864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Использование </a:t>
            </a:r>
            <a:r>
              <a:rPr lang="en-US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Docker Compose </a:t>
            </a: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и </a:t>
            </a:r>
            <a:r>
              <a:rPr lang="en-US" dirty="0" err="1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Dockerfile</a:t>
            </a:r>
            <a:endParaRPr lang="ru-RU" dirty="0">
              <a:solidFill>
                <a:schemeClr val="dk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7" name="Google Shape;537;p53">
            <a:extLst>
              <a:ext uri="{FF2B5EF4-FFF2-40B4-BE49-F238E27FC236}">
                <a16:creationId xmlns:a16="http://schemas.microsoft.com/office/drawing/2014/main" id="{7F8A967D-166F-4061-93E8-B909C769A7FE}"/>
              </a:ext>
            </a:extLst>
          </p:cNvPr>
          <p:cNvSpPr txBox="1"/>
          <p:nvPr/>
        </p:nvSpPr>
        <p:spPr>
          <a:xfrm>
            <a:off x="545973" y="1620000"/>
            <a:ext cx="7951174" cy="1698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Compose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это инструмент для запуска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мультиконтейнерного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приложения, которое не зависит от платформы и содержит все необходимые для работы технологии и библиотеки. Конфигурация такого приложения записывается в одном текстовом файле в формате YAML. Запускается приложение одной командой в терминале.</a:t>
            </a: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endParaRPr lang="ru-RU" sz="1200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374399" lvl="0" indent="-306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"/>
              <a:buChar char="📌"/>
            </a:pP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Dockerfile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– это текстовый файл, в котором описан рецепт создания образа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. Рецепт состоит из инструкций, которые выполняются последовательно. Они содержат информацию об операционной системе, выбранной платформе, фреймворках, библиотеках, инструментах, которые нужно установить.</a:t>
            </a:r>
          </a:p>
        </p:txBody>
      </p:sp>
    </p:spTree>
    <p:extLst>
      <p:ext uri="{BB962C8B-B14F-4D97-AF65-F5344CB8AC3E}">
        <p14:creationId xmlns:p14="http://schemas.microsoft.com/office/powerpoint/2010/main" val="11043895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540000" y="1143300"/>
            <a:ext cx="8064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36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Заключение</a:t>
            </a:r>
            <a:endParaRPr sz="3600" dirty="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741921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28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ru-RU" dirty="0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Заключение</a:t>
            </a:r>
          </a:p>
        </p:txBody>
      </p:sp>
      <p:sp>
        <p:nvSpPr>
          <p:cNvPr id="549" name="Google Shape;549;p54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5958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7" name="Google Shape;537;p53">
            <a:extLst>
              <a:ext uri="{FF2B5EF4-FFF2-40B4-BE49-F238E27FC236}">
                <a16:creationId xmlns:a16="http://schemas.microsoft.com/office/drawing/2014/main" id="{7F8A967D-166F-4061-93E8-B909C769A7FE}"/>
              </a:ext>
            </a:extLst>
          </p:cNvPr>
          <p:cNvSpPr txBox="1"/>
          <p:nvPr/>
        </p:nvSpPr>
        <p:spPr>
          <a:xfrm>
            <a:off x="545973" y="1620000"/>
            <a:ext cx="7951174" cy="259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78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 рамках данного дипломного проекта было разработано веб-приложение «Список покупок», предназначенное для составления списков покупок и возможностью делиться ими с другими пользователями. Проект был реализован с использованием современных технологий веб-разработки, таких как </a:t>
            </a:r>
            <a:r>
              <a:rPr lang="ru-RU" sz="1200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PostgreSQL</a:t>
            </a: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Java Spring Framework, React.js.</a:t>
            </a:r>
          </a:p>
          <a:p>
            <a:pPr marL="678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 процессе разработки были достигнуты следующие цели:</a:t>
            </a:r>
          </a:p>
          <a:p>
            <a:pPr marL="374400" lvl="0" indent="-3060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BM Plex Sans"/>
              <a:buChar char="✔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Создание удобного и интуитивно понятного интерфейса для пользователей приложения.</a:t>
            </a:r>
          </a:p>
          <a:p>
            <a:pPr marL="374400" lvl="0" indent="-3060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BM Plex Sans"/>
              <a:buChar char="✔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Реализация функционала добавления, редактирования и удаления списков покупок, продуктов и пользователей.</a:t>
            </a:r>
          </a:p>
          <a:p>
            <a:pPr marL="374400" lvl="0" indent="-3060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BM Plex Sans"/>
              <a:buChar char="✔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Обеспечение безопасности данных пользователей с использованием механизмов аутентификации и авторизации Spring Security на основе JWT-токена.</a:t>
            </a:r>
          </a:p>
          <a:p>
            <a:pPr marL="374400" lvl="0" indent="-3060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BM Plex Sans"/>
              <a:buChar char="✔"/>
            </a:pPr>
            <a:r>
              <a:rPr lang="ru-RU" sz="12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Использование принципов SOLID и паттернов проектирования для обеспечения гибкости и расширяемости кода.</a:t>
            </a:r>
          </a:p>
        </p:txBody>
      </p:sp>
    </p:spTree>
    <p:extLst>
      <p:ext uri="{BB962C8B-B14F-4D97-AF65-F5344CB8AC3E}">
        <p14:creationId xmlns:p14="http://schemas.microsoft.com/office/powerpoint/2010/main" val="1170698353"/>
      </p:ext>
    </p:extLst>
  </p:cSld>
  <p:clrMapOvr>
    <a:masterClrMapping/>
  </p:clrMapOvr>
</p:sld>
</file>

<file path=ppt/theme/theme1.xml><?xml version="1.0" encoding="utf-8"?>
<a:theme xmlns:a="http://schemas.openxmlformats.org/drawingml/2006/main" name="Макет шаблона GB">
  <a:themeElements>
    <a:clrScheme name="Simple Light">
      <a:dk1>
        <a:srgbClr val="000000"/>
      </a:dk1>
      <a:lt1>
        <a:srgbClr val="FFFFFF"/>
      </a:lt1>
      <a:dk2>
        <a:srgbClr val="8F93A3"/>
      </a:dk2>
      <a:lt2>
        <a:srgbClr val="D4D4DD"/>
      </a:lt2>
      <a:accent1>
        <a:srgbClr val="8D46F6"/>
      </a:accent1>
      <a:accent2>
        <a:srgbClr val="71E76E"/>
      </a:accent2>
      <a:accent3>
        <a:srgbClr val="FCB8FF"/>
      </a:accent3>
      <a:accent4>
        <a:srgbClr val="FD7B55"/>
      </a:accent4>
      <a:accent5>
        <a:srgbClr val="FBEB3B"/>
      </a:accent5>
      <a:accent6>
        <a:srgbClr val="F1EFE4"/>
      </a:accent6>
      <a:hlink>
        <a:srgbClr val="8D46F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1253</Words>
  <Application>Microsoft Office PowerPoint</Application>
  <PresentationFormat>Экран (16:9)</PresentationFormat>
  <Paragraphs>150</Paragraphs>
  <Slides>35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0" baseType="lpstr">
      <vt:lpstr>IBM Plex Sans SemiBold</vt:lpstr>
      <vt:lpstr>Roboto</vt:lpstr>
      <vt:lpstr>Arial</vt:lpstr>
      <vt:lpstr>IBM Plex Sans</vt:lpstr>
      <vt:lpstr>Макет шаблона GB</vt:lpstr>
      <vt:lpstr>Веб-приложение  «Список покупок» с использованием  Java Spring Framework и React.js</vt:lpstr>
      <vt:lpstr>Знакомство</vt:lpstr>
      <vt:lpstr>Лакеев Денис</vt:lpstr>
      <vt:lpstr>Задача и план работ</vt:lpstr>
      <vt:lpstr>Поставленная задача</vt:lpstr>
      <vt:lpstr>Решение задачи / План работы</vt:lpstr>
      <vt:lpstr>Теория</vt:lpstr>
      <vt:lpstr>Порядок проведения работ</vt:lpstr>
      <vt:lpstr>Планирование проекта и настройка окружения разработки</vt:lpstr>
      <vt:lpstr>Создание базы данных, серверной и клиентской частей</vt:lpstr>
      <vt:lpstr>Отладка, оптимизация и документирование</vt:lpstr>
      <vt:lpstr>Определение требований к приложению</vt:lpstr>
      <vt:lpstr>Функциональные требования</vt:lpstr>
      <vt:lpstr>Нефункциональные требования</vt:lpstr>
      <vt:lpstr>Выбор стека технологий</vt:lpstr>
      <vt:lpstr>Язык программирования, фреймворк для разработки и среда разработки</vt:lpstr>
      <vt:lpstr>Практика</vt:lpstr>
      <vt:lpstr>Проектирование базы данных</vt:lpstr>
      <vt:lpstr>Проектирование базы данных</vt:lpstr>
      <vt:lpstr>Проектирование серверной части</vt:lpstr>
      <vt:lpstr>Проектирование серверной части</vt:lpstr>
      <vt:lpstr>Проектирование клиентской части</vt:lpstr>
      <vt:lpstr>Проектирование клиентской части</vt:lpstr>
      <vt:lpstr>Первоначальная страница</vt:lpstr>
      <vt:lpstr>Страница регистрации</vt:lpstr>
      <vt:lpstr>Страница авторизации</vt:lpstr>
      <vt:lpstr>Страница отображения списков покупок</vt:lpstr>
      <vt:lpstr>Страница редактирования одного списка</vt:lpstr>
      <vt:lpstr>Страница редактирования продукта</vt:lpstr>
      <vt:lpstr>Страница редактирования пользователя</vt:lpstr>
      <vt:lpstr>Разворачивание Docker-контейнера</vt:lpstr>
      <vt:lpstr>Основные принципы разворачивания Docker-контейнера</vt:lpstr>
      <vt:lpstr>Использование Docker Compose и Dockerfile</vt:lpstr>
      <vt:lpstr>Заключение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Denis</cp:lastModifiedBy>
  <cp:revision>15</cp:revision>
  <dcterms:modified xsi:type="dcterms:W3CDTF">2024-04-08T14:27:07Z</dcterms:modified>
</cp:coreProperties>
</file>